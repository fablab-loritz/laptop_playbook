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charts/colors1.xml" ContentType="application/vnd.ms-office.chartcolorstyl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charts/style1.xml" ContentType="application/vnd.ms-office.chartstyl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microsoft.com/office/2011/relationships/chartStyle" Target="style1.xml" /><Relationship Id="rId2" Type="http://schemas.microsoft.com/office/2011/relationships/chartColorStyle" Target="colors1.xml" /><Relationship Id="rId3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p>
            <a:pPr>
              <a:defRPr sz="1400" b="0" spc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/>
              <a:t>Exemple de Graphique</a:t>
            </a:r>
            <a:endParaRPr/>
          </a:p>
        </c:rich>
      </c:tx>
      <c:layout/>
      <c:overlay val="0"/>
      <c:spPr bwMode="auto">
        <a:prstGeom prst="rect">
          <a:avLst/>
        </a:prstGeom>
        <a:noFill/>
        <a:ln>
          <a:noFill/>
        </a:ln>
      </c:spPr>
      <c:txPr>
        <a:bodyPr/>
        <a:p>
          <a:pPr>
            <a:defRPr sz="1400" b="0" spc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/>
        </a:p>
      </c:txPr>
    </c:title>
    <c:autoTitleDeleted val="0"/>
    <c:view3D>
      <c:rotX val="30"/>
      <c:rotY val="0"/>
      <c:depthPercent val="100"/>
      <c:rAngAx val="0"/>
    </c:view3D>
    <c:floor>
      <c:thickness val="0"/>
      <c:spPr bwMode="auto">
        <a:prstGeom prst="rect">
          <a:avLst/>
        </a:prstGeom>
        <a:noFill/>
        <a:ln>
          <a:noFill/>
        </a:ln>
      </c:spPr>
    </c:floor>
    <c:sideWall>
      <c:thickness val="0"/>
      <c:spPr bwMode="auto">
        <a:prstGeom prst="rect">
          <a:avLst/>
        </a:prstGeom>
        <a:noFill/>
        <a:ln>
          <a:noFill/>
        </a:ln>
      </c:spPr>
    </c:sideWall>
    <c:backWall>
      <c:thickness val="0"/>
      <c:spPr bwMode="auto">
        <a:prstGeom prst="rect">
          <a:avLst/>
        </a:prstGeom>
        <a:noFill/>
        <a:ln>
          <a:noFill/>
        </a:ln>
      </c:spPr>
    </c:backWall>
    <c:plotArea>
      <c:layout>
        <c:manualLayout/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Gold</c:v>
                </c:pt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lt1"/>
                </a:solidFill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lt1"/>
                </a:solidFill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lt1"/>
                </a:solidFill>
              </a:ln>
            </c:spPr>
          </c:dPt>
          <c:dPt>
            <c:idx val="3"/>
            <c:spPr bwMode="auto">
              <a:prstGeom prst="rect">
                <a:avLst/>
              </a:prstGeom>
              <a:solidFill>
                <a:schemeClr val="accent4"/>
              </a:solidFill>
              <a:ln w="19050">
                <a:solidFill>
                  <a:schemeClr val="lt1"/>
                </a:solidFill>
              </a:ln>
            </c:spPr>
          </c:dPt>
          <c:dPt>
            <c:idx val="4"/>
            <c:spPr bwMode="auto"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lt1"/>
                </a:solidFill>
              </a:ln>
            </c:spPr>
          </c:dPt>
          <c:dPt>
            <c:idx val="5"/>
            <c:spPr bwMode="auto"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lt1"/>
                </a:solidFill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3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4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5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0"/>
            <c:showSerName val="0"/>
            <c:showVal val="0"/>
            <c:spPr bwMode="auto">
              <a:prstGeom prst="rect">
                <a:avLst/>
              </a:prstGeom>
              <a:noFill/>
              <a:ln>
                <a:noFill/>
              </a:ln>
            </c:spPr>
            <c:txPr>
              <a:bodyPr/>
              <a:p>
                <a:pPr>
                  <a:defRPr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USA</c:v>
                </c:pt>
                <c:pt idx="1">
                  <c:v>CHN</c:v>
                </c:pt>
                <c:pt idx="2">
                  <c:v>RUS</c:v>
                </c:pt>
                <c:pt idx="3">
                  <c:v>GBR</c:v>
                </c:pt>
                <c:pt idx="4">
                  <c:v>GER</c:v>
                </c:pt>
                <c:pt idx="5">
                  <c:v>JPN</c:v>
                </c:pt>
              </c:strCache>
            </c:strRef>
          </c:cat>
          <c:val>
            <c:numRef>
              <c:f>Sheet1!$B$2:$B$7</c:f>
              <c:numCache>
                <c:ptCount val="6"/>
                <c:pt idx="0" formatCode="General">
                  <c:v>46</c:v>
                </c:pt>
                <c:pt idx="1" formatCode="General">
                  <c:v>38</c:v>
                </c:pt>
                <c:pt idx="2" formatCode="General">
                  <c:v>24</c:v>
                </c:pt>
                <c:pt idx="3" formatCode="General">
                  <c:v>29</c:v>
                </c:pt>
                <c:pt idx="4" formatCode="General">
                  <c:v>11</c:v>
                </c:pt>
                <c:pt idx="5" formatCode="General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Silver</c:v>
                </c:pt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lt1"/>
                </a:solidFill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lt1"/>
                </a:solidFill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lt1"/>
                </a:solidFill>
              </a:ln>
            </c:spPr>
          </c:dPt>
          <c:dPt>
            <c:idx val="3"/>
            <c:spPr bwMode="auto">
              <a:prstGeom prst="rect">
                <a:avLst/>
              </a:prstGeom>
              <a:solidFill>
                <a:schemeClr val="accent4"/>
              </a:solidFill>
              <a:ln w="19050">
                <a:solidFill>
                  <a:schemeClr val="lt1"/>
                </a:solidFill>
              </a:ln>
            </c:spPr>
          </c:dPt>
          <c:dPt>
            <c:idx val="4"/>
            <c:spPr bwMode="auto"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lt1"/>
                </a:solidFill>
              </a:ln>
            </c:spPr>
          </c:dPt>
          <c:dPt>
            <c:idx val="5"/>
            <c:spPr bwMode="auto"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lt1"/>
                </a:solidFill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3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4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5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0"/>
            <c:showSerName val="0"/>
            <c:showVal val="0"/>
            <c:spPr bwMode="auto">
              <a:prstGeom prst="rect">
                <a:avLst/>
              </a:prstGeom>
              <a:noFill/>
              <a:ln>
                <a:noFill/>
              </a:ln>
            </c:spPr>
            <c:txPr>
              <a:bodyPr/>
              <a:p>
                <a:pPr>
                  <a:defRPr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USA</c:v>
                </c:pt>
                <c:pt idx="1">
                  <c:v>CHN</c:v>
                </c:pt>
                <c:pt idx="2">
                  <c:v>RUS</c:v>
                </c:pt>
                <c:pt idx="3">
                  <c:v>GBR</c:v>
                </c:pt>
                <c:pt idx="4">
                  <c:v>GER</c:v>
                </c:pt>
                <c:pt idx="5">
                  <c:v>JPN</c:v>
                </c:pt>
              </c:strCache>
            </c:strRef>
          </c:cat>
          <c:val>
            <c:numRef>
              <c:f>Sheet1!$C$2:$C$7</c:f>
              <c:numCache>
                <c:ptCount val="6"/>
                <c:pt idx="0" formatCode="General">
                  <c:v>29</c:v>
                </c:pt>
                <c:pt idx="1" formatCode="General">
                  <c:v>27</c:v>
                </c:pt>
                <c:pt idx="2" formatCode="General">
                  <c:v>26</c:v>
                </c:pt>
                <c:pt idx="3" formatCode="General">
                  <c:v>17</c:v>
                </c:pt>
                <c:pt idx="4" formatCode="General">
                  <c:v>19</c:v>
                </c:pt>
                <c:pt idx="5" formatCode="General">
                  <c:v>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Bronze</c:v>
                </c:pt>
              </c:strCache>
            </c:strRef>
          </c:tx>
          <c:dPt>
            <c:idx val="0"/>
            <c:spPr bwMode="auto"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lt1"/>
                </a:solidFill>
              </a:ln>
            </c:spPr>
          </c:dPt>
          <c:dPt>
            <c:idx val="1"/>
            <c:spPr bwMode="auto"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lt1"/>
                </a:solidFill>
              </a:ln>
            </c:spPr>
          </c:dPt>
          <c:dPt>
            <c:idx val="2"/>
            <c:spPr bwMode="auto"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lt1"/>
                </a:solidFill>
              </a:ln>
            </c:spPr>
          </c:dPt>
          <c:dPt>
            <c:idx val="3"/>
            <c:spPr bwMode="auto">
              <a:prstGeom prst="rect">
                <a:avLst/>
              </a:prstGeom>
              <a:solidFill>
                <a:schemeClr val="accent4"/>
              </a:solidFill>
              <a:ln w="19050">
                <a:solidFill>
                  <a:schemeClr val="lt1"/>
                </a:solidFill>
              </a:ln>
            </c:spPr>
          </c:dPt>
          <c:dPt>
            <c:idx val="4"/>
            <c:spPr bwMode="auto"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lt1"/>
                </a:solidFill>
              </a:ln>
            </c:spPr>
          </c:dPt>
          <c:dPt>
            <c:idx val="5"/>
            <c:spPr bwMode="auto"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lt1"/>
                </a:solidFill>
              </a:ln>
            </c:spPr>
          </c:dPt>
          <c:dLbls>
            <c:dLbl>
              <c:idx val="0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1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2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3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4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>
              <c:idx val="5"/>
              <c:dLblPos val="ctr"/>
              <c:layout/>
              <c:showBubbleSize val="0"/>
              <c:showCatName val="0"/>
              <c:showLegendKey val="0"/>
              <c:showPercent val="0"/>
              <c:showSerName val="0"/>
              <c:showVal val="0"/>
              <c:spPr bwMode="auto">
                <a:prstGeom prst="rect">
                  <a:avLst/>
                </a:prstGeom>
                <a:noFill/>
                <a:ln>
                  <a:noFill/>
                </a:ln>
              </c:spPr>
              <c:txPr>
                <a:bodyPr/>
                <a:p>
                  <a:pPr>
                    <a:defRPr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/>
                </a:p>
              </c:txPr>
            </c:dLbl>
            <c:dLblPos val="ctr"/>
            <c:showBubbleSize val="0"/>
            <c:showCatName val="0"/>
            <c:showLeaderLines val="1"/>
            <c:showLegendKey val="0"/>
            <c:showPercent val="0"/>
            <c:showSerName val="0"/>
            <c:showVal val="0"/>
            <c:spPr bwMode="auto">
              <a:prstGeom prst="rect">
                <a:avLst/>
              </a:prstGeom>
              <a:noFill/>
              <a:ln>
                <a:noFill/>
              </a:ln>
            </c:spPr>
            <c:txPr>
              <a:bodyPr/>
              <a:p>
                <a:pPr>
                  <a:defRPr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/>
              </a:p>
            </c:txPr>
          </c:dLbls>
          <c:cat>
            <c:strRef>
              <c:f>Sheet1!$A$2:$A$7</c:f>
              <c:strCache>
                <c:ptCount val="6"/>
                <c:pt idx="0">
                  <c:v>USA</c:v>
                </c:pt>
                <c:pt idx="1">
                  <c:v>CHN</c:v>
                </c:pt>
                <c:pt idx="2">
                  <c:v>RUS</c:v>
                </c:pt>
                <c:pt idx="3">
                  <c:v>GBR</c:v>
                </c:pt>
                <c:pt idx="4">
                  <c:v>GER</c:v>
                </c:pt>
                <c:pt idx="5">
                  <c:v>JPN</c:v>
                </c:pt>
              </c:strCache>
            </c:strRef>
          </c:cat>
          <c:val>
            <c:numRef>
              <c:f>Sheet1!$D$2:$D$7</c:f>
              <c:numCache>
                <c:ptCount val="6"/>
                <c:pt idx="0" formatCode="General">
                  <c:v>29</c:v>
                </c:pt>
                <c:pt idx="1" formatCode="General">
                  <c:v>23</c:v>
                </c:pt>
                <c:pt idx="2" formatCode="General">
                  <c:v>32</c:v>
                </c:pt>
                <c:pt idx="3" formatCode="General">
                  <c:v>19</c:v>
                </c:pt>
                <c:pt idx="4" formatCode="General">
                  <c:v>14</c:v>
                </c:pt>
                <c:pt idx="5" formatCode="General">
                  <c:v>17</c:v>
                </c:pt>
              </c:numCache>
            </c:numRef>
          </c:val>
        </c:ser>
        <c:dLbls>
          <c:dLblPos val="ctr"/>
          <c:showBubbleSize val="0"/>
          <c:showCatName val="0"/>
          <c:showLeaderLines val="1"/>
          <c:showLegendKey val="0"/>
          <c:showPercent val="0"/>
          <c:showSerName val="0"/>
          <c:showVal val="0"/>
          <c:spPr bwMode="auto">
            <a:prstGeom prst="rect">
              <a:avLst/>
            </a:prstGeom>
            <a:noFill/>
            <a:ln>
              <a:noFill/>
            </a:ln>
          </c:spPr>
          <c:txPr>
            <a:bodyPr/>
            <a:p>
              <a:pPr>
                <a:defRPr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/>
            </a:p>
          </c:txPr>
        </c:dLbls>
      </c:pie3DChart>
      <c:spPr bwMode="auto">
        <a:prstGeom prst="rect">
          <a:avLst/>
        </a:prstGeom>
        <a:noFill/>
        <a:ln>
          <a:noFill/>
        </a:ln>
      </c:spPr>
    </c:plotArea>
    <c:legend>
      <c:legendPos val="b"/>
      <c:layout/>
      <c:overlay val="0"/>
      <c:spPr bwMode="auto"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 bwMode="auto">
    <a:xfrm>
      <a:off x="763949" y="342899"/>
      <a:ext cx="10972799" cy="5905499"/>
    </a:xfrm>
    <a:prstGeom prst="rect">
      <a:avLst/>
    </a:prstGeom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</c:spPr>
  <c:txPr>
    <a:bodyPr/>
    <a:p>
      <a:pPr>
        <a:defRPr sz="900">
          <a:solidFill>
            <a:schemeClr val="tx1"/>
          </a:solidFill>
          <a:latin typeface="+mn-lt"/>
          <a:ea typeface="+mn-ea"/>
          <a:cs typeface="+mn-cs"/>
        </a:defRPr>
      </a:pPr>
      <a:endParaRPr/>
    </a:p>
  </c:txPr>
  <c:externalData r:id="rId3">
    <c:autoUpdate val="0"/>
  </c:externalData>
  <c:printSettings>
    <c:headerFooter/>
    <c:pageMargins l="0.69999999999999996" r="0.69999999999999996" t="0.75" b="0.75" header="0.29999999999999999" footer="0.29999999999999999"/>
    <c:pageSetup/>
  </c:printSettings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/>
  </cs:dataLabel>
  <cs:dataPoint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Wirefram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dataTable>
  <cs:down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  <cs:dataPointMarkerLayout symbol="circle" size="5"/>
</cs:chartStyl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735279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52284296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1504071303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079573264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409711843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02357773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09411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1350444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22646250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040188-49DD-6C36-6EB6-AF6BC8A23DF5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9B6563-5000-328C-85C5-E338B6621587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99C09A-E420-E5AB-EF14-F37E7001813E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060B27-954B-247A-1E77-F874356CF14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00C473-6D3F-0A28-1D6A-8F71E85B156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944196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00591710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121365864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70671646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7387258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30094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643727780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7371311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35221007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7170272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031398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3155155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3407412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45630541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6960231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52944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28131646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4685367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359086959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8844109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71382882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001954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1058581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301650008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73982312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856392850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97968162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12715645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94738550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81415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380192211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278069685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07527479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332978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025338656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30333175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553696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06282206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266620042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9566903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1903153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9436144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030750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2411734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200862273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043763421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89796440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6486857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34316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48211707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11000546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6937674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1181475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382081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121909704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0787020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07316947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6407952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88769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1248563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114839730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12238425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1558697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03419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Exemple de PowerPoint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32983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0271" y="2057399"/>
            <a:ext cx="7716703" cy="2152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45662442" name=""/>
          <p:cNvGraphicFramePr>
            <a:graphicFrameLocks xmlns:a="http://schemas.openxmlformats.org/drawingml/2006/main"/>
          </p:cNvGraphicFramePr>
          <p:nvPr/>
        </p:nvGraphicFramePr>
        <p:xfrm>
          <a:off x="763949" y="342899"/>
          <a:ext cx="10972799" cy="5905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09791" name="Espace réservé du contenu 2"/>
          <p:cNvSpPr>
            <a:spLocks noGrp="1"/>
          </p:cNvSpPr>
          <p:nvPr>
            <p:ph idx="1"/>
          </p:nvPr>
        </p:nvSpPr>
        <p:spPr bwMode="auto">
          <a:xfrm flipH="0" flipV="0">
            <a:off x="781049" y="628649"/>
            <a:ext cx="6155099" cy="59816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1 </a:t>
            </a: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Éplucher et découper en morceaux 4 Golden.</a:t>
            </a:r>
            <a:endParaRPr sz="2400"/>
          </a:p>
          <a:p>
            <a:pPr marL="0" marR="0" indent="0">
              <a:buFont typeface="Arial"/>
              <a:buNone/>
              <a:defRPr/>
            </a:pP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2 </a:t>
            </a: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Faire une compote : les mettre dans une casserole avec un peu d'eau (1 verre ou 2). Bien remuer. Quand les pommes commencent à ramollir, ajouter un sachet ou un sachet et demi de sucre vanillé. Ajouter un peu d'eau si nécessaire.</a:t>
            </a:r>
            <a:endParaRPr sz="2400"/>
          </a:p>
          <a:p>
            <a:pPr marL="0" marR="0" indent="0">
              <a:defRPr/>
            </a:pP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3 </a:t>
            </a: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Vous saurez si la compote est prête une fois que les pommes ne seront plus dures du tout. Ce n'est pas grave s'il reste quelques morceaux.</a:t>
            </a:r>
            <a:endParaRPr sz="2400"/>
          </a:p>
          <a:p>
            <a:pPr>
              <a:defRPr/>
            </a:pPr>
            <a:endParaRPr/>
          </a:p>
        </p:txBody>
      </p:sp>
      <p:sp>
        <p:nvSpPr>
          <p:cNvPr id="878405512" name=""/>
          <p:cNvSpPr txBox="1"/>
          <p:nvPr/>
        </p:nvSpPr>
        <p:spPr bwMode="auto">
          <a:xfrm flipH="0" flipV="0">
            <a:off x="7088549" y="121739"/>
            <a:ext cx="4537859" cy="6309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4 </a:t>
            </a:r>
            <a:endParaRPr sz="2400"/>
          </a:p>
          <a:p>
            <a:pPr marL="0" marR="0" indent="0"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Pendant que la compote cuit, éplucher et couper en quatre les deux dernières pommes, puis, couper les quartiers en fines lamelles (elles serviront à être posées sur la compote).</a:t>
            </a:r>
            <a:endParaRPr sz="2400"/>
          </a:p>
          <a:p>
            <a:pPr marL="0" marR="0" indent="0">
              <a:defRPr/>
            </a:pPr>
            <a:endParaRPr sz="2400"/>
          </a:p>
          <a:p>
            <a:pPr marL="0" marR="0" indent="0"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5 </a:t>
            </a:r>
            <a:endParaRPr sz="2400"/>
          </a:p>
          <a:p>
            <a:pPr marL="0" marR="0" indent="0"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Préchauffer le four à 210°C (thermostat 7).</a:t>
            </a:r>
            <a:endParaRPr sz="2400"/>
          </a:p>
          <a:p>
            <a:pPr marL="0" marR="0" indent="0">
              <a:defRPr/>
            </a:pPr>
            <a:endParaRPr sz="2400"/>
          </a:p>
          <a:p>
            <a:pPr marL="0" marR="0" indent="0"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6 </a:t>
            </a:r>
            <a:endParaRPr sz="2400"/>
          </a:p>
          <a:p>
            <a:pPr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Laisser un peu refroidir la compote et étaler la pâte brisée dans un moule et la piquer avec une fourchette. </a:t>
            </a:r>
            <a:endParaRPr sz="2400"/>
          </a:p>
        </p:txBody>
      </p:sp>
      <p:sp>
        <p:nvSpPr>
          <p:cNvPr id="1811829349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781049" y="121739"/>
            <a:ext cx="5676899" cy="58311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2400"/>
              <a:t>Recette de Tarte aux Pommes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310245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199" y="606424"/>
            <a:ext cx="10515600" cy="4351338"/>
          </a:xfrm>
        </p:spPr>
        <p:txBody>
          <a:bodyPr/>
          <a:lstStyle/>
          <a:p>
            <a:pPr marL="0" marR="0" indent="0">
              <a:buFont typeface="Arial"/>
              <a:buNone/>
              <a:defRPr/>
            </a:pPr>
            <a:r>
              <a:rPr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7 </a:t>
            </a:r>
            <a:endParaRPr sz="2600"/>
          </a:p>
          <a:p>
            <a:pPr marL="0" marR="0" indent="0">
              <a:buFont typeface="Arial"/>
              <a:buNone/>
              <a:defRPr/>
            </a:pPr>
            <a:r>
              <a:rPr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Verser la compote sur la pâte et placer les lamelles de pommes en formant une spirale ou plusieurs cercles, au choix ! Disposer des lamelles de beurre dessus.</a:t>
            </a:r>
            <a:endParaRPr sz="2600"/>
          </a:p>
          <a:p>
            <a:pPr marL="0" marR="0" indent="0">
              <a:buFont typeface="Arial"/>
              <a:buNone/>
              <a:defRPr/>
            </a:pPr>
            <a:endParaRPr sz="2600"/>
          </a:p>
          <a:p>
            <a:pPr marL="0" marR="0" indent="0">
              <a:buFont typeface="Arial"/>
              <a:buNone/>
              <a:defRPr/>
            </a:pPr>
            <a:r>
              <a:rPr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8 </a:t>
            </a:r>
            <a:endParaRPr sz="2600"/>
          </a:p>
          <a:p>
            <a:pPr marL="0" indent="0">
              <a:buFont typeface="Arial"/>
              <a:buNone/>
              <a:defRPr/>
            </a:pPr>
            <a:r>
              <a:rPr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Mettre au four et laisser cuire pendant 30 min max. Surveiller la cuisson. Vous pouvez ajouter un peu de sucre vanillé sur la</a:t>
            </a:r>
            <a:r>
              <a:rPr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tarte pendant que çà cuit pour caraméliser un peu.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9581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0"/>
            <a:ext cx="12212999" cy="68538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2026-03-10T09:14:19Z</dcterms:modified>
</cp:coreProperties>
</file>